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013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6C78B-0B42-28EB-D680-E7F63BB81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246E8-247E-574A-5721-7F420977A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EB712-541C-00C8-E6E1-CAD908667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0CEE1-01BE-FF9E-BD4D-9550ABB8FE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40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ITUP201: SOFTWARE GROUP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Devang Patel Institute of Advance Technology and Research (DEPSTAR)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60188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4000" b="1" dirty="0">
                <a:latin typeface="Aptos" panose="020B0004020202020204" pitchFamily="34" charset="0"/>
              </a:rPr>
              <a:t>Online Token Generation System</a:t>
            </a:r>
            <a:br>
              <a:rPr lang="en-IN" sz="4000" dirty="0"/>
            </a:br>
            <a:r>
              <a:rPr lang="en-IN" sz="2400" b="1" dirty="0">
                <a:latin typeface="Aptos" panose="020B0004020202020204" pitchFamily="34" charset="0"/>
              </a:rPr>
              <a:t>ITUP201: SOFTWARE GROUP PROJECT 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7437" y="2907792"/>
            <a:ext cx="7838573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457200" y="315805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: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Mr.Ashish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Katira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97880" y="315805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Balar (24DIT002)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Yug Patel (24DIT005)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Raiyani (24DIT057)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Satyarajsinh Rathod (24DIT061)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806778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2" name="Text 10"/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BAFCEF-2825-CFE3-6192-909F40BC06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2002"/>
            <a:ext cx="1037492" cy="10191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B50833-4574-05D8-CC6A-DB6CF6FBB2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760" y="202002"/>
            <a:ext cx="4672240" cy="8944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of the Presentation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097280" y="777240"/>
            <a:ext cx="6858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□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400" b="1" dirty="0"/>
          </a:p>
          <a:p>
            <a:pPr marL="342900" indent="-342900">
              <a:spcAft>
                <a:spcPts val="300"/>
              </a:spcAft>
              <a:buSzPct val="100000"/>
              <a:buChar char="□"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b="1" dirty="0"/>
          </a:p>
          <a:p>
            <a:pPr marL="342900" indent="-342900">
              <a:spcAft>
                <a:spcPts val="300"/>
              </a:spcAft>
              <a:buSzPct val="100000"/>
              <a:buChar char="□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400" b="1" dirty="0"/>
          </a:p>
          <a:p>
            <a:pPr marL="342900" indent="-342900">
              <a:spcAft>
                <a:spcPts val="300"/>
              </a:spcAft>
              <a:buSzPct val="100000"/>
              <a:buChar char="□"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</a:t>
            </a:r>
            <a:endParaRPr lang="en-US" sz="1400" b="1" dirty="0"/>
          </a:p>
          <a:p>
            <a:pPr marL="342900" indent="-342900">
              <a:spcAft>
                <a:spcPts val="300"/>
              </a:spcAft>
              <a:buSzPct val="100000"/>
              <a:buChar char="□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b="1" dirty="0"/>
          </a:p>
          <a:p>
            <a:pPr marL="342900" indent="-342900">
              <a:spcAft>
                <a:spcPts val="300"/>
              </a:spcAft>
              <a:buSzPct val="100000"/>
              <a:buChar char="□"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DESIGN/Architecture Diagram</a:t>
            </a:r>
            <a:endParaRPr lang="en-US" sz="1400" b="1" dirty="0"/>
          </a:p>
          <a:p>
            <a:pPr marL="342900" indent="-342900">
              <a:spcAft>
                <a:spcPts val="300"/>
              </a:spcAft>
              <a:buSzPct val="100000"/>
              <a:buChar char="□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b="1" dirty="0"/>
          </a:p>
          <a:p>
            <a:pPr marL="342900" indent="-342900">
              <a:spcAft>
                <a:spcPts val="300"/>
              </a:spcAft>
              <a:buSzPct val="100000"/>
              <a:buChar char="□"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b="1" dirty="0"/>
          </a:p>
          <a:p>
            <a:pPr marL="342900" indent="-342900">
              <a:spcAft>
                <a:spcPts val="300"/>
              </a:spcAft>
              <a:buSzPct val="100000"/>
              <a:buChar char="□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400" b="1" dirty="0"/>
          </a:p>
          <a:p>
            <a:pPr marL="342900" indent="-342900">
              <a:spcAft>
                <a:spcPts val="300"/>
              </a:spcAft>
              <a:buSzPct val="100000"/>
              <a:buChar char="□"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1400" b="1" dirty="0"/>
          </a:p>
          <a:p>
            <a:pPr marL="342900" indent="-342900">
              <a:spcAft>
                <a:spcPts val="300"/>
              </a:spcAft>
              <a:buSzPct val="100000"/>
              <a:buChar char="□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Token Generator is a web-based application designed to digitize queuing at government offices.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aims to eliminate long physical wait times and improve overall service efficiency.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book tokens remotely, track live status, and receive estimated wait times.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ensures transparency, fairness, and a significantly better experience for citizens and staff alike.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2651760"/>
            <a:ext cx="8321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85800" lvl="1" indent="-342900">
              <a:spcAft>
                <a:spcPts val="300"/>
              </a:spcAft>
              <a:buSzPct val="100000"/>
              <a:buChar char="◆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token booking (anytime, anywhere)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◆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token status and wait time updates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◆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GPS-based Office Finder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◆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OTP-based registration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◆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◆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 UI (English, Gujarati, Hindi)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  <p:sp>
        <p:nvSpPr>
          <p:cNvPr id="9" name="Text 7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waste hours standing in unorganized queues at RTOs and rural/urban public offices.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token systems lead to overlaps, frustration, and mismanagement of time.</a:t>
            </a:r>
          </a:p>
          <a:p>
            <a:pPr marL="0" lvl="1" indent="0">
              <a:buNone/>
            </a:pPr>
            <a:endParaRPr lang="en-US" sz="125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lvl="1" indent="0">
              <a:buNone/>
            </a:pPr>
            <a:endParaRPr lang="en-US" sz="125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lvl="1" indent="0">
              <a:buNone/>
            </a:pPr>
            <a:endParaRPr lang="en-US" sz="125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lvl="1" indent="0">
              <a:buNone/>
            </a:pPr>
            <a:endParaRPr lang="en-US" sz="1300" dirty="0"/>
          </a:p>
          <a:p>
            <a:pPr marL="342900" indent="-342900">
              <a:buSzPct val="100000"/>
              <a:buChar char="◆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Objective: </a:t>
            </a:r>
          </a:p>
          <a:p>
            <a:pPr marL="342900" indent="-342900">
              <a:buSzPct val="100000"/>
              <a:buChar char="◆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digital platform for token generation before physically visiting the office.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functionalities include a Smart Office finder, secure OTP registration, and real-time tracking.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can view estimated wait time and current token number being served — remotely.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reduces physical crowding, improves staff efficiency, and enhances citizen experience.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manual, paper-based token dispatching at the physical location.</a:t>
            </a:r>
          </a:p>
          <a:p>
            <a:pPr>
              <a:buSzPct val="100000"/>
            </a:pPr>
            <a:endParaRPr lang="en-US" sz="1300" dirty="0"/>
          </a:p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booking, no tracking, high risk of losing paper tokens, and unorganized crowd management.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Overcomes these by: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2359152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85800" lvl="1" indent="-342900">
              <a:spcAft>
                <a:spcPts val="300"/>
              </a:spcAft>
              <a:buSzPct val="100000"/>
              <a:buChar char="◆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remote, web-based token bookings from any device.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◆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SMS/Email notifications and live digital tracking.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◆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multi-language accessibility (English, Gujarati, Hindi) to ensure inclusivity.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365760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token systems significantly reduce waiting time and improve service delivery efficiency, as shown in queue management research.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  <p:sp>
        <p:nvSpPr>
          <p:cNvPr id="10" name="Text 8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 (Citizens) and Government Staff (Employees / Admins).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29844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Registers, finds offices, books tokens, and tracks status.</a:t>
            </a:r>
            <a:endParaRPr lang="en-US" sz="1300" dirty="0"/>
          </a:p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Manages the token queue, updates status (Waiting / Serving / Completed).</a:t>
            </a:r>
            <a:endParaRPr lang="en-US" sz="1300" dirty="0"/>
          </a:p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Manages geography, offices, services, and employee access.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9032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highly feasible using modern web frameworks; operationally beneficial for crowd control and office management.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6576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Existing System: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◆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token generation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◆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waiting queues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◆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tracking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◆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◆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human error risk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  <p:sp>
        <p:nvSpPr>
          <p:cNvPr id="11" name="Text 9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developed using modern web technologies: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 – dynamic, responsive UI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– fast build tool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252374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8254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(Django Framework)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1181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 (DRF) for APIs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123444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: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37760" y="15361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 for data storage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193852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Add-ons :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37760" y="25328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Scanning &amp; Hash Verification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37760" y="28254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OTP-based Registration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  <p:sp>
        <p:nvSpPr>
          <p:cNvPr id="20" name="Text 18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/ Architecture Diagram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  <p:sp>
        <p:nvSpPr>
          <p:cNvPr id="13" name="Text 11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E7A472-E80F-B0FC-9E90-43AF36DB0460}"/>
              </a:ext>
            </a:extLst>
          </p:cNvPr>
          <p:cNvSpPr txBox="1"/>
          <p:nvPr/>
        </p:nvSpPr>
        <p:spPr>
          <a:xfrm>
            <a:off x="411480" y="1006460"/>
            <a:ext cx="7697804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◆"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Follow Client-Server Architecture that ensures efficient communication between users and the systems</a:t>
            </a:r>
          </a:p>
          <a:p>
            <a:pPr>
              <a:buSzPct val="100000"/>
            </a:pPr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◆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User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intects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with the system through the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frontend(React.js).</a:t>
            </a:r>
          </a:p>
          <a:p>
            <a:pPr marL="342900" indent="-342900">
              <a:buSzPct val="100000"/>
              <a:buChar char="◆"/>
            </a:pPr>
            <a:endParaRPr lang="en-US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◆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sends request to the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server(Django REST API).</a:t>
            </a:r>
          </a:p>
          <a:p>
            <a:pPr marL="342900" indent="-342900">
              <a:buSzPct val="100000"/>
              <a:buChar char="◆"/>
            </a:pPr>
            <a:endParaRPr lang="en-US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◆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processes request and applies business logic.</a:t>
            </a:r>
          </a:p>
          <a:p>
            <a:pPr>
              <a:buSzPct val="100000"/>
            </a:pPr>
            <a:endParaRPr lang="en-US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◆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and manage in the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Database(PostgreSQL)</a:t>
            </a:r>
          </a:p>
          <a:p>
            <a:pPr>
              <a:buSzPct val="100000"/>
            </a:pPr>
            <a:endParaRPr lang="en-US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◆"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Blockchain-Layer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is used to secure token time-stamp.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B81D09-B7CF-8D82-A968-47F4F627C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65EFC4-95E8-A923-67D5-8AB155162B70}"/>
              </a:ext>
            </a:extLst>
          </p:cNvPr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/ Architecture Diagram</a:t>
            </a:r>
            <a:endParaRPr lang="en-US" sz="2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D19B18-B457-E223-F9FC-C95CC12913CA}"/>
              </a:ext>
            </a:extLst>
          </p:cNvPr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79560C-5BDC-DF9E-585F-46F737317407}"/>
              </a:ext>
            </a:extLst>
          </p:cNvPr>
          <p:cNvSpPr/>
          <p:nvPr/>
        </p:nvSpPr>
        <p:spPr>
          <a:xfrm>
            <a:off x="411480" y="80467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Authentication: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OTP and JWT tokens.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1FC7EFE-0D4E-A01C-F470-A270BDABC28B}"/>
              </a:ext>
            </a:extLst>
          </p:cNvPr>
          <p:cNvSpPr/>
          <p:nvPr/>
        </p:nvSpPr>
        <p:spPr>
          <a:xfrm>
            <a:off x="411480" y="1402401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Location Module: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Smart Office Finder maps citizens to correct branches.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71E3CAE-FB2A-0906-6AEB-D61C62818FE3}"/>
              </a:ext>
            </a:extLst>
          </p:cNvPr>
          <p:cNvSpPr/>
          <p:nvPr/>
        </p:nvSpPr>
        <p:spPr>
          <a:xfrm>
            <a:off x="411480" y="200013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Booking Engine: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sequential alphanumeric tokens (e.g., GJ01A001), preventing race conditions.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DB016A2-54CA-B4A7-6AE9-E6D6D9836117}"/>
              </a:ext>
            </a:extLst>
          </p:cNvPr>
          <p:cNvSpPr/>
          <p:nvPr/>
        </p:nvSpPr>
        <p:spPr>
          <a:xfrm>
            <a:off x="411480" y="262866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Employee Dashboard: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WebSocket/polling dynamically updates the queue.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D822291-AE5C-F456-8F21-E994B768F5FE}"/>
              </a:ext>
            </a:extLst>
          </p:cNvPr>
          <p:cNvSpPr/>
          <p:nvPr/>
        </p:nvSpPr>
        <p:spPr>
          <a:xfrm>
            <a:off x="411480" y="321074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Verification: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verification via QR code hash.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27E946A-2B3B-B235-DD33-EED2F34D34A9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8A64E56-9A71-FAFD-6B3E-FA1D19039909}"/>
              </a:ext>
            </a:extLst>
          </p:cNvPr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D05DA51-B5A8-F166-E4F2-C81417248E68}"/>
              </a:ext>
            </a:extLst>
          </p:cNvPr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24743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tested to ensure reliability and performance.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Testing Performed: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" y="1499616"/>
            <a:ext cx="8321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Verified individual functions like Token ID generation logic and hash creation.</a:t>
            </a:r>
            <a:endParaRPr lang="en-US" sz="1300" dirty="0"/>
          </a:p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Ensured smooth data flow between the React frontend and Django APIs.</a:t>
            </a:r>
            <a:endParaRPr lang="en-US" sz="1300" dirty="0"/>
          </a:p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Tested RBAC to ensure employees only see tokens for their designated office.</a:t>
            </a:r>
            <a:endParaRPr lang="en-US" sz="1300" dirty="0"/>
          </a:p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Testing: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Ensured no duplicate tokens are generated when multiple users book simultaneously.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16839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Include: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3693214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85800" lvl="1" indent="-342900">
              <a:spcAft>
                <a:spcPts val="300"/>
              </a:spcAft>
              <a:buSzPct val="100000"/>
              <a:buChar char="◆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Token generation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◆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Login functionality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◆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Role access control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◆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tracking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◆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  <p:sp>
        <p:nvSpPr>
          <p:cNvPr id="11" name="Text 9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successfully: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 responsive, fast-loading web application.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fully functional Role-Based Access Control (RBAC) system.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Office Finder accurately lists offices based on District and Taluka.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token status updates seamlessly across citizen and employee screens.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 UI implemented successfully (English, Gujarati, Hindi).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unique alphanumeric tokens without duplicates under concurrent load.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development, several challenges were encountered: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Preventing duplicate token numbers during high-volume concurrent bookings.</a:t>
            </a: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Implemented atomic database transactions to ensure uniqueness.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Logic: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Properly filtering token data so staff only access their specific district's queue.</a:t>
            </a: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Layered RBAC with office-scoped API permissions.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186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◆"/>
            </a:pPr>
            <a:r>
              <a:rPr lang="en-US" sz="13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Setting up robust multi-language translations across complex, dynamic UI components.</a:t>
            </a: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Used i18n library with fallback chains.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  <p:sp>
        <p:nvSpPr>
          <p:cNvPr id="10" name="Text 8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Token Generator successfully modernizes queue management, making government services more accessible, organized, and transparent. It provides an efficient and citizen-friendly digital solution for government offices.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Includes: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2304288"/>
            <a:ext cx="8321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advanced Blockchain verification for tamper-proof token authenticity.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Gateway integration for instant offline mobile alerts.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support for additional regional languages.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(Android/iOS) for wider citizen reach.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integration for seamless identity verification.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waiting time prediction using historical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  <p:sp>
        <p:nvSpPr>
          <p:cNvPr id="10" name="Text 8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Documentation: react.dev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Framework: django-rest-framework.org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Queue Management Systems – Case Studies.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research papers on queue management systems.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Official Documentation: docs.djangoproject.com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– RFC 7519.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◆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SRS Standard (IEEE 830).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you...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711A"/>
          </a:solidFill>
          <a:ln w="12700">
            <a:solidFill>
              <a:srgbClr val="D471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82880" y="4800600"/>
            <a:ext cx="7772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>
                <a:solidFill>
                  <a:schemeClr val="bg1"/>
                </a:solidFill>
              </a:rPr>
              <a:t>Department of Information Technology, 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</a:rPr>
              <a:t>Devang Patel Institute of Advance Technology and Research (DEPSTAR)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1366</Words>
  <Application>Microsoft Office PowerPoint</Application>
  <PresentationFormat>On-screen Show (16:9)</PresentationFormat>
  <Paragraphs>206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Satyarajsinh Rathod</cp:lastModifiedBy>
  <cp:revision>3</cp:revision>
  <dcterms:created xsi:type="dcterms:W3CDTF">2026-05-01T15:39:49Z</dcterms:created>
  <dcterms:modified xsi:type="dcterms:W3CDTF">2026-05-01T16:14:27Z</dcterms:modified>
</cp:coreProperties>
</file>